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" charset="1" panose="00000500000000000000"/>
      <p:regular r:id="rId19"/>
    </p:embeddedFont>
    <p:embeddedFont>
      <p:font typeface="Lora Bold" charset="1" panose="00000800000000000000"/>
      <p:regular r:id="rId20"/>
    </p:embeddedFont>
    <p:embeddedFont>
      <p:font typeface="Cardo Bold" charset="1" panose="02020804080000020003"/>
      <p:regular r:id="rId21"/>
    </p:embeddedFont>
    <p:embeddedFont>
      <p:font typeface="Open Sauce Bold" charset="1" panose="00000800000000000000"/>
      <p:regular r:id="rId22"/>
    </p:embeddedFont>
    <p:embeddedFont>
      <p:font typeface="Open Sauce Semi-Bold" charset="1" panose="000007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8115" y="742172"/>
            <a:ext cx="12731958" cy="3419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  <a:r>
              <a:rPr lang="en-US" sz="6237" spc="-367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PAYSHIELD FINTECH: REAL-TIME CREDIT CARD FRAUD DETECTION USING MACHINE LEARNING</a:t>
            </a:r>
          </a:p>
          <a:p>
            <a:pPr algn="ctr">
              <a:lnSpc>
                <a:spcPts val="673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08035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9068" y="3783411"/>
            <a:ext cx="17049865" cy="274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864" spc="-168">
                <a:solidFill>
                  <a:srgbClr val="185079"/>
                </a:solidFill>
                <a:latin typeface="Lora Bold"/>
                <a:ea typeface="Lora Bold"/>
                <a:cs typeface="Lora Bold"/>
                <a:sym typeface="Lora Bold"/>
              </a:rPr>
              <a:t>MACHINE LEARNING APPROACH TO CREDIT CARD FRAUD DETECTION</a:t>
            </a:r>
          </a:p>
          <a:p>
            <a:pPr algn="ctr">
              <a:lnSpc>
                <a:spcPts val="3093"/>
              </a:lnSpc>
            </a:pPr>
          </a:p>
          <a:p>
            <a:pPr algn="ctr">
              <a:lnSpc>
                <a:spcPts val="3093"/>
              </a:lnSpc>
            </a:pPr>
            <a:r>
              <a:rPr lang="en-US" b="true" sz="2864" spc="-168">
                <a:solidFill>
                  <a:srgbClr val="185079"/>
                </a:solidFill>
                <a:latin typeface="Lora Bold"/>
                <a:ea typeface="Lora Bold"/>
                <a:cs typeface="Lora Bold"/>
                <a:sym typeface="Lora Bold"/>
              </a:rPr>
              <a:t>Machine Learning Lab – BCADA 5P 126BCA (Data Analytics) </a:t>
            </a:r>
          </a:p>
          <a:p>
            <a:pPr algn="ctr">
              <a:lnSpc>
                <a:spcPts val="3093"/>
              </a:lnSpc>
            </a:pPr>
          </a:p>
          <a:p>
            <a:pPr algn="ctr">
              <a:lnSpc>
                <a:spcPts val="3093"/>
              </a:lnSpc>
            </a:pPr>
            <a:r>
              <a:rPr lang="en-US" b="true" sz="2864" spc="-168">
                <a:solidFill>
                  <a:srgbClr val="185079"/>
                </a:solidFill>
                <a:latin typeface="Lora Bold"/>
                <a:ea typeface="Lora Bold"/>
                <a:cs typeface="Lora Bold"/>
                <a:sym typeface="Lora Bold"/>
              </a:rPr>
              <a:t>St. Joseph's University, Bengaluru · 2026–2027</a:t>
            </a:r>
          </a:p>
          <a:p>
            <a:pPr algn="ctr">
              <a:lnSpc>
                <a:spcPts val="3093"/>
              </a:lnSpc>
            </a:pPr>
          </a:p>
          <a:p>
            <a:pPr algn="ctr" marL="0" indent="0" lvl="0">
              <a:lnSpc>
                <a:spcPts val="309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98776" y="6746469"/>
            <a:ext cx="11413622" cy="314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434" indent="-357217" lvl="1">
              <a:lnSpc>
                <a:spcPts val="3573"/>
              </a:lnSpc>
              <a:buFont typeface="Arial"/>
              <a:buChar char="•"/>
            </a:pPr>
            <a:r>
              <a:rPr lang="en-US" b="true" sz="3309" spc="-119">
                <a:solidFill>
                  <a:srgbClr val="185079"/>
                </a:solidFill>
                <a:latin typeface="Cardo Bold"/>
                <a:ea typeface="Cardo Bold"/>
                <a:cs typeface="Cardo Bold"/>
                <a:sym typeface="Cardo Bold"/>
              </a:rPr>
              <a:t>AIRA LIZ JOICE  -  241BCADA06</a:t>
            </a:r>
          </a:p>
          <a:p>
            <a:pPr algn="l" marL="714434" indent="-357217" lvl="1">
              <a:lnSpc>
                <a:spcPts val="3573"/>
              </a:lnSpc>
              <a:buFont typeface="Arial"/>
              <a:buChar char="•"/>
            </a:pPr>
            <a:r>
              <a:rPr lang="en-US" b="true" sz="3309" spc="-119">
                <a:solidFill>
                  <a:srgbClr val="185079"/>
                </a:solidFill>
                <a:latin typeface="Cardo Bold"/>
                <a:ea typeface="Cardo Bold"/>
                <a:cs typeface="Cardo Bold"/>
                <a:sym typeface="Cardo Bold"/>
              </a:rPr>
              <a:t>Merin Manickal Roy - 241BCADA21</a:t>
            </a:r>
          </a:p>
          <a:p>
            <a:pPr algn="l" marL="714434" indent="-357217" lvl="1">
              <a:lnSpc>
                <a:spcPts val="3573"/>
              </a:lnSpc>
              <a:buFont typeface="Arial"/>
              <a:buChar char="•"/>
            </a:pPr>
            <a:r>
              <a:rPr lang="en-US" b="true" sz="3309" spc="-119">
                <a:solidFill>
                  <a:srgbClr val="185079"/>
                </a:solidFill>
                <a:latin typeface="Cardo Bold"/>
                <a:ea typeface="Cardo Bold"/>
                <a:cs typeface="Cardo Bold"/>
                <a:sym typeface="Cardo Bold"/>
              </a:rPr>
              <a:t>Abraham Rakshan Joshua S - 241BCADA22</a:t>
            </a:r>
          </a:p>
          <a:p>
            <a:pPr algn="l" marL="714434" indent="-357217" lvl="1">
              <a:lnSpc>
                <a:spcPts val="3573"/>
              </a:lnSpc>
              <a:buFont typeface="Arial"/>
              <a:buChar char="•"/>
            </a:pPr>
            <a:r>
              <a:rPr lang="en-US" b="true" sz="3309" spc="-119">
                <a:solidFill>
                  <a:srgbClr val="185079"/>
                </a:solidFill>
                <a:latin typeface="Cardo Bold"/>
                <a:ea typeface="Cardo Bold"/>
                <a:cs typeface="Cardo Bold"/>
                <a:sym typeface="Cardo Bold"/>
              </a:rPr>
              <a:t>Diya Mejo - 241BCADA32</a:t>
            </a:r>
          </a:p>
          <a:p>
            <a:pPr algn="l" marL="714434" indent="-357217" lvl="1">
              <a:lnSpc>
                <a:spcPts val="3573"/>
              </a:lnSpc>
              <a:buFont typeface="Arial"/>
              <a:buChar char="•"/>
            </a:pPr>
            <a:r>
              <a:rPr lang="en-US" b="true" sz="3309" spc="-119">
                <a:solidFill>
                  <a:srgbClr val="185079"/>
                </a:solidFill>
                <a:latin typeface="Cardo Bold"/>
                <a:ea typeface="Cardo Bold"/>
                <a:cs typeface="Cardo Bold"/>
                <a:sym typeface="Cardo Bold"/>
              </a:rPr>
              <a:t>Y Vishal Zavier - 241BCADA55</a:t>
            </a:r>
          </a:p>
          <a:p>
            <a:pPr algn="l" marL="714434" indent="-357217" lvl="1">
              <a:lnSpc>
                <a:spcPts val="3573"/>
              </a:lnSpc>
              <a:buFont typeface="Arial"/>
              <a:buChar char="•"/>
            </a:pPr>
            <a:r>
              <a:rPr lang="en-US" b="true" sz="3309" spc="-119">
                <a:solidFill>
                  <a:srgbClr val="185079"/>
                </a:solidFill>
                <a:latin typeface="Cardo Bold"/>
                <a:ea typeface="Cardo Bold"/>
                <a:cs typeface="Cardo Bold"/>
                <a:sym typeface="Cardo Bold"/>
              </a:rPr>
              <a:t>R Hari Krishna - 241BCADA58</a:t>
            </a:r>
          </a:p>
          <a:p>
            <a:pPr algn="l">
              <a:lnSpc>
                <a:spcPts val="357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284820" y="28575"/>
            <a:ext cx="2738697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451209" y="809513"/>
            <a:ext cx="7836791" cy="8448475"/>
            <a:chOff x="0" y="0"/>
            <a:chExt cx="1005964" cy="10844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964" cy="1084482"/>
            </a:xfrm>
            <a:custGeom>
              <a:avLst/>
              <a:gdLst/>
              <a:ahLst/>
              <a:cxnLst/>
              <a:rect r="r" b="b" t="t" l="l"/>
              <a:pathLst>
                <a:path h="1084482" w="1005964">
                  <a:moveTo>
                    <a:pt x="22722" y="0"/>
                  </a:moveTo>
                  <a:lnTo>
                    <a:pt x="983242" y="0"/>
                  </a:lnTo>
                  <a:cubicBezTo>
                    <a:pt x="995791" y="0"/>
                    <a:pt x="1005964" y="10173"/>
                    <a:pt x="1005964" y="22722"/>
                  </a:cubicBezTo>
                  <a:lnTo>
                    <a:pt x="1005964" y="1061761"/>
                  </a:lnTo>
                  <a:cubicBezTo>
                    <a:pt x="1005964" y="1074309"/>
                    <a:pt x="995791" y="1084482"/>
                    <a:pt x="983242" y="1084482"/>
                  </a:cubicBezTo>
                  <a:lnTo>
                    <a:pt x="22722" y="1084482"/>
                  </a:lnTo>
                  <a:cubicBezTo>
                    <a:pt x="10173" y="1084482"/>
                    <a:pt x="0" y="1074309"/>
                    <a:pt x="0" y="1061761"/>
                  </a:cubicBezTo>
                  <a:lnTo>
                    <a:pt x="0" y="22722"/>
                  </a:lnTo>
                  <a:cubicBezTo>
                    <a:pt x="0" y="10173"/>
                    <a:pt x="10173" y="0"/>
                    <a:pt x="2272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2453" r="0" b="-3245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03792" y="654308"/>
            <a:ext cx="6737800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PROBLEM STATEMENT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382839"/>
            <a:ext cx="10545385" cy="587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892" indent="-260446" lvl="1">
              <a:lnSpc>
                <a:spcPts val="3377"/>
              </a:lnSpc>
              <a:buFont typeface="Arial"/>
              <a:buChar char="•"/>
            </a:pPr>
            <a:r>
              <a:rPr lang="en-US" b="true" sz="241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project is a credit card fraud detection system (the notebooks call it PayShield). It uses machine learning to flag fraudulent transactions.</a:t>
            </a:r>
          </a:p>
          <a:p>
            <a:pPr algn="l" marL="520892" indent="-260446" lvl="1">
              <a:lnSpc>
                <a:spcPts val="3377"/>
              </a:lnSpc>
              <a:buFont typeface="Arial"/>
              <a:buChar char="•"/>
            </a:pPr>
            <a:r>
              <a:rPr lang="en-US" b="true" sz="241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dataset has 88,235 transactions and 15 cleaned features: category, amount, city, state, location, city population, job, merchant location, age, transaction hour, day of week and distance.</a:t>
            </a:r>
          </a:p>
          <a:p>
            <a:pPr algn="l" marL="520892" indent="-260446" lvl="1">
              <a:lnSpc>
                <a:spcPts val="3377"/>
              </a:lnSpc>
              <a:buFont typeface="Arial"/>
              <a:buChar char="•"/>
            </a:pPr>
            <a:r>
              <a:rPr lang="en-US" b="true" sz="241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Only 150 transactions are fraud, which is 0.17%. This class imbalance is the main challenge.</a:t>
            </a:r>
          </a:p>
          <a:p>
            <a:pPr algn="l" marL="520892" indent="-260446" lvl="1">
              <a:lnSpc>
                <a:spcPts val="3377"/>
              </a:lnSpc>
              <a:buFont typeface="Arial"/>
              <a:buChar char="•"/>
            </a:pPr>
            <a:r>
              <a:rPr lang="en-US" b="true" sz="241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pipeline runs in stages: data engineering, exploratory analysis, model building, evaluation, and a Power BI dashboard.</a:t>
            </a:r>
          </a:p>
          <a:p>
            <a:pPr algn="l" marL="520892" indent="-260446" lvl="1">
              <a:lnSpc>
                <a:spcPts val="3377"/>
              </a:lnSpc>
              <a:buFont typeface="Arial"/>
              <a:buChar char="•"/>
            </a:pPr>
            <a:r>
              <a:rPr lang="en-US" b="true" sz="241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final model is XGBoost, chosen because it had the best PR-AUC.</a:t>
            </a:r>
          </a:p>
          <a:p>
            <a:pPr algn="l" marL="0" indent="0" lvl="0">
              <a:lnSpc>
                <a:spcPts val="337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5283" y="-6508626"/>
            <a:ext cx="15265433" cy="13017251"/>
          </a:xfrm>
          <a:custGeom>
            <a:avLst/>
            <a:gdLst/>
            <a:ahLst/>
            <a:cxnLst/>
            <a:rect r="r" b="b" t="t" l="l"/>
            <a:pathLst>
              <a:path h="13017251" w="15265433">
                <a:moveTo>
                  <a:pt x="0" y="0"/>
                </a:moveTo>
                <a:lnTo>
                  <a:pt x="15265434" y="0"/>
                </a:lnTo>
                <a:lnTo>
                  <a:pt x="15265434" y="13017252"/>
                </a:lnTo>
                <a:lnTo>
                  <a:pt x="0" y="13017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81912" y="3833242"/>
            <a:ext cx="7677388" cy="4456659"/>
            <a:chOff x="0" y="0"/>
            <a:chExt cx="2022028" cy="11737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22028" cy="1173770"/>
            </a:xfrm>
            <a:custGeom>
              <a:avLst/>
              <a:gdLst/>
              <a:ahLst/>
              <a:cxnLst/>
              <a:rect r="r" b="b" t="t" l="l"/>
              <a:pathLst>
                <a:path h="1173770" w="2022028">
                  <a:moveTo>
                    <a:pt x="51429" y="0"/>
                  </a:moveTo>
                  <a:lnTo>
                    <a:pt x="1970599" y="0"/>
                  </a:lnTo>
                  <a:cubicBezTo>
                    <a:pt x="1984239" y="0"/>
                    <a:pt x="1997320" y="5418"/>
                    <a:pt x="2006965" y="15063"/>
                  </a:cubicBezTo>
                  <a:cubicBezTo>
                    <a:pt x="2016610" y="24708"/>
                    <a:pt x="2022028" y="37789"/>
                    <a:pt x="2022028" y="51429"/>
                  </a:cubicBezTo>
                  <a:lnTo>
                    <a:pt x="2022028" y="1122342"/>
                  </a:lnTo>
                  <a:cubicBezTo>
                    <a:pt x="2022028" y="1135981"/>
                    <a:pt x="2016610" y="1149063"/>
                    <a:pt x="2006965" y="1158707"/>
                  </a:cubicBezTo>
                  <a:cubicBezTo>
                    <a:pt x="1997320" y="1168352"/>
                    <a:pt x="1984239" y="1173770"/>
                    <a:pt x="1970599" y="1173770"/>
                  </a:cubicBezTo>
                  <a:lnTo>
                    <a:pt x="51429" y="1173770"/>
                  </a:lnTo>
                  <a:cubicBezTo>
                    <a:pt x="37789" y="1173770"/>
                    <a:pt x="24708" y="1168352"/>
                    <a:pt x="15063" y="1158707"/>
                  </a:cubicBezTo>
                  <a:cubicBezTo>
                    <a:pt x="5418" y="1149063"/>
                    <a:pt x="0" y="1135981"/>
                    <a:pt x="0" y="1122342"/>
                  </a:cubicBezTo>
                  <a:lnTo>
                    <a:pt x="0" y="51429"/>
                  </a:lnTo>
                  <a:cubicBezTo>
                    <a:pt x="0" y="37789"/>
                    <a:pt x="5418" y="24708"/>
                    <a:pt x="15063" y="15063"/>
                  </a:cubicBezTo>
                  <a:cubicBezTo>
                    <a:pt x="24708" y="5418"/>
                    <a:pt x="37789" y="0"/>
                    <a:pt x="51429" y="0"/>
                  </a:cubicBezTo>
                  <a:close/>
                </a:path>
              </a:pathLst>
            </a:custGeom>
            <a:solidFill>
              <a:srgbClr val="3885A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022028" cy="1173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959837" y="4449174"/>
            <a:ext cx="6921538" cy="343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b="true" sz="2299" spc="-4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Important features used in the model: transaction amount, category, state, customer/merchant location (lat/long), city population, and three engineered features — age, transaction hour, and customer-to-merchant distance (9 numeric + 2 categorical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833242"/>
            <a:ext cx="7811784" cy="4456659"/>
            <a:chOff x="0" y="0"/>
            <a:chExt cx="2057425" cy="1173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7425" cy="1173770"/>
            </a:xfrm>
            <a:custGeom>
              <a:avLst/>
              <a:gdLst/>
              <a:ahLst/>
              <a:cxnLst/>
              <a:rect r="r" b="b" t="t" l="l"/>
              <a:pathLst>
                <a:path h="1173770" w="2057425">
                  <a:moveTo>
                    <a:pt x="50544" y="0"/>
                  </a:moveTo>
                  <a:lnTo>
                    <a:pt x="2006881" y="0"/>
                  </a:lnTo>
                  <a:cubicBezTo>
                    <a:pt x="2020286" y="0"/>
                    <a:pt x="2033142" y="5325"/>
                    <a:pt x="2042621" y="14804"/>
                  </a:cubicBezTo>
                  <a:cubicBezTo>
                    <a:pt x="2052100" y="24283"/>
                    <a:pt x="2057425" y="37139"/>
                    <a:pt x="2057425" y="50544"/>
                  </a:cubicBezTo>
                  <a:lnTo>
                    <a:pt x="2057425" y="1123226"/>
                  </a:lnTo>
                  <a:cubicBezTo>
                    <a:pt x="2057425" y="1151141"/>
                    <a:pt x="2034796" y="1173770"/>
                    <a:pt x="2006881" y="1173770"/>
                  </a:cubicBezTo>
                  <a:lnTo>
                    <a:pt x="50544" y="1173770"/>
                  </a:lnTo>
                  <a:cubicBezTo>
                    <a:pt x="37139" y="1173770"/>
                    <a:pt x="24283" y="1168445"/>
                    <a:pt x="14804" y="1158966"/>
                  </a:cubicBezTo>
                  <a:cubicBezTo>
                    <a:pt x="5325" y="1149488"/>
                    <a:pt x="0" y="1136632"/>
                    <a:pt x="0" y="1123226"/>
                  </a:cubicBezTo>
                  <a:lnTo>
                    <a:pt x="0" y="50544"/>
                  </a:lnTo>
                  <a:cubicBezTo>
                    <a:pt x="0" y="22629"/>
                    <a:pt x="22629" y="0"/>
                    <a:pt x="50544" y="0"/>
                  </a:cubicBezTo>
                  <a:close/>
                </a:path>
              </a:pathLst>
            </a:custGeom>
            <a:solidFill>
              <a:srgbClr val="3885A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57425" cy="1173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123950"/>
            <a:ext cx="15623569" cy="219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DATASET &amp; DATA UNDERSTANDING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26384"/>
            <a:ext cx="7677388" cy="416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b="true" sz="2199" spc="-4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name and source: Credit Card Fraud Dataset — DataCamp DataLab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b="true" sz="2199" spc="-4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Size: 339,607 transactions, 15 raw features (~62 MB)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b="true" sz="2199" spc="-4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variable: is_fraud (binary) — true population fraud rate ≈ 0.17%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b="true" sz="2199" spc="-4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Limitation: severe class imbalance (0.17% fraud) and full dataset too large to iterate on quickly with classroom hardware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54641" y="8550050"/>
            <a:ext cx="15778718" cy="1416500"/>
            <a:chOff x="0" y="0"/>
            <a:chExt cx="5375350" cy="482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75351" cy="482560"/>
            </a:xfrm>
            <a:custGeom>
              <a:avLst/>
              <a:gdLst/>
              <a:ahLst/>
              <a:cxnLst/>
              <a:rect r="r" b="b" t="t" l="l"/>
              <a:pathLst>
                <a:path h="482560" w="5375351">
                  <a:moveTo>
                    <a:pt x="10304" y="0"/>
                  </a:moveTo>
                  <a:lnTo>
                    <a:pt x="5365047" y="0"/>
                  </a:lnTo>
                  <a:cubicBezTo>
                    <a:pt x="5367780" y="0"/>
                    <a:pt x="5370400" y="1086"/>
                    <a:pt x="5372333" y="3018"/>
                  </a:cubicBezTo>
                  <a:cubicBezTo>
                    <a:pt x="5374265" y="4950"/>
                    <a:pt x="5375351" y="7571"/>
                    <a:pt x="5375351" y="10304"/>
                  </a:cubicBezTo>
                  <a:lnTo>
                    <a:pt x="5375351" y="472257"/>
                  </a:lnTo>
                  <a:cubicBezTo>
                    <a:pt x="5375351" y="474989"/>
                    <a:pt x="5374265" y="477610"/>
                    <a:pt x="5372333" y="479543"/>
                  </a:cubicBezTo>
                  <a:cubicBezTo>
                    <a:pt x="5370400" y="481475"/>
                    <a:pt x="5367780" y="482560"/>
                    <a:pt x="5365047" y="482560"/>
                  </a:cubicBezTo>
                  <a:lnTo>
                    <a:pt x="10304" y="482560"/>
                  </a:lnTo>
                  <a:cubicBezTo>
                    <a:pt x="4613" y="482560"/>
                    <a:pt x="0" y="477947"/>
                    <a:pt x="0" y="472257"/>
                  </a:cubicBezTo>
                  <a:lnTo>
                    <a:pt x="0" y="10304"/>
                  </a:lnTo>
                  <a:cubicBezTo>
                    <a:pt x="0" y="7571"/>
                    <a:pt x="1086" y="4950"/>
                    <a:pt x="3018" y="3018"/>
                  </a:cubicBezTo>
                  <a:cubicBezTo>
                    <a:pt x="4950" y="1086"/>
                    <a:pt x="7571" y="0"/>
                    <a:pt x="10304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375350" cy="482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63241" y="8705850"/>
            <a:ext cx="1547011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2399" spc="-4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approach: fixed minimum fraud count at 150 (enough for a reliable ~30-case test set after an 80/20 split), then calculated total rows needed to preserve the real 0.17% ratio → 88,235 total rows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5837" y="802165"/>
            <a:ext cx="16736327" cy="8771450"/>
            <a:chOff x="0" y="0"/>
            <a:chExt cx="4407921" cy="23101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7921" cy="2310176"/>
            </a:xfrm>
            <a:custGeom>
              <a:avLst/>
              <a:gdLst/>
              <a:ahLst/>
              <a:cxnLst/>
              <a:rect r="r" b="b" t="t" l="l"/>
              <a:pathLst>
                <a:path h="2310176" w="4407921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78146" y="1405161"/>
            <a:ext cx="12931708" cy="204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92"/>
              </a:lnSpc>
              <a:spcBef>
                <a:spcPct val="0"/>
              </a:spcBef>
            </a:pPr>
            <a:r>
              <a:rPr lang="en-US" b="true" sz="7400" spc="-43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DATA PREPARATION &amp; FEATURE ENGINEERING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540" y="3790611"/>
            <a:ext cx="15200919" cy="473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799"/>
              </a:lnSpc>
              <a:buFont typeface="Arial"/>
              <a:buChar char="•"/>
            </a:pPr>
            <a:r>
              <a:rPr lang="en-US" b="true" sz="24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cleaning: checked all 15 columns — 0 missing values, 0 duplicates</a:t>
            </a:r>
          </a:p>
          <a:p>
            <a:pPr algn="just" marL="539748" indent="-269874" lvl="1">
              <a:lnSpc>
                <a:spcPts val="3799"/>
              </a:lnSpc>
              <a:buFont typeface="Arial"/>
              <a:buChar char="•"/>
            </a:pPr>
            <a:r>
              <a:rPr lang="en-US" b="true" sz="24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Outlier detection: used the IQR method (flags values far outside the normal 25th–75th percentile range) on amount, city population — kept them, since fraud is often the outlier itself</a:t>
            </a:r>
          </a:p>
          <a:p>
            <a:pPr algn="just" marL="539748" indent="-269874" lvl="1">
              <a:lnSpc>
                <a:spcPts val="3799"/>
              </a:lnSpc>
              <a:buFont typeface="Arial"/>
              <a:buChar char="•"/>
            </a:pPr>
            <a:r>
              <a:rPr lang="en-US" b="true" sz="24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engineering: derived age (calculated at transaction time, not today's date, so it never silently changes), trans_hour and trans_dayofweek (from timestamp), distance_km (customer-to-merchant distance)</a:t>
            </a:r>
          </a:p>
          <a:p>
            <a:pPr algn="just" marL="539748" indent="-269874" lvl="1">
              <a:lnSpc>
                <a:spcPts val="3799"/>
              </a:lnSpc>
              <a:buFont typeface="Arial"/>
              <a:buChar char="•"/>
            </a:pPr>
            <a:r>
              <a:rPr lang="en-US" b="true" sz="24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selection: dropped merchant and trans_num (pure IDs, no pattern to learn); dropped city and job after testing — too many rare categories caused the model to overfit and catch almost no fraud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575"/>
            <a:ext cx="18288000" cy="10260419"/>
          </a:xfrm>
          <a:custGeom>
            <a:avLst/>
            <a:gdLst/>
            <a:ahLst/>
            <a:cxnLst/>
            <a:rect r="r" b="b" t="t" l="l"/>
            <a:pathLst>
              <a:path h="10260419" w="18288000">
                <a:moveTo>
                  <a:pt x="0" y="0"/>
                </a:moveTo>
                <a:lnTo>
                  <a:pt x="18288000" y="0"/>
                </a:lnTo>
                <a:lnTo>
                  <a:pt x="18288000" y="10260419"/>
                </a:lnTo>
                <a:lnTo>
                  <a:pt x="0" y="10260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54" t="-5166" r="-4364" b="-34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59593" y="7811764"/>
            <a:ext cx="32867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"/>
              </a:lnSpc>
              <a:spcBef>
                <a:spcPct val="0"/>
              </a:spcBef>
            </a:pPr>
            <a:r>
              <a:rPr lang="en-US" sz="1421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9% of fraud cases in the normal hours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671314" cy="8505997"/>
          </a:xfrm>
          <a:custGeom>
            <a:avLst/>
            <a:gdLst/>
            <a:ahLst/>
            <a:cxnLst/>
            <a:rect r="r" b="b" t="t" l="l"/>
            <a:pathLst>
              <a:path h="8505997" w="15671314">
                <a:moveTo>
                  <a:pt x="0" y="0"/>
                </a:moveTo>
                <a:lnTo>
                  <a:pt x="15671314" y="0"/>
                </a:lnTo>
                <a:lnTo>
                  <a:pt x="15671314" y="8505997"/>
                </a:lnTo>
                <a:lnTo>
                  <a:pt x="0" y="8505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1062" y="7061583"/>
            <a:ext cx="2866788" cy="158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  <a:spcBef>
                <a:spcPct val="0"/>
              </a:spcBef>
            </a:pPr>
            <a:r>
              <a:rPr lang="en-US" sz="1537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51062" y="5962333"/>
            <a:ext cx="328699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23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198" y="746921"/>
            <a:ext cx="16258102" cy="9145182"/>
          </a:xfrm>
          <a:custGeom>
            <a:avLst/>
            <a:gdLst/>
            <a:ahLst/>
            <a:cxnLst/>
            <a:rect r="r" b="b" t="t" l="l"/>
            <a:pathLst>
              <a:path h="9145182" w="16258102">
                <a:moveTo>
                  <a:pt x="0" y="0"/>
                </a:moveTo>
                <a:lnTo>
                  <a:pt x="16258102" y="0"/>
                </a:lnTo>
                <a:lnTo>
                  <a:pt x="16258102" y="9145182"/>
                </a:lnTo>
                <a:lnTo>
                  <a:pt x="0" y="914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8914" y="666259"/>
            <a:ext cx="16107765" cy="8925959"/>
          </a:xfrm>
          <a:custGeom>
            <a:avLst/>
            <a:gdLst/>
            <a:ahLst/>
            <a:cxnLst/>
            <a:rect r="r" b="b" t="t" l="l"/>
            <a:pathLst>
              <a:path h="8925959" w="16107765">
                <a:moveTo>
                  <a:pt x="0" y="0"/>
                </a:moveTo>
                <a:lnTo>
                  <a:pt x="16107765" y="0"/>
                </a:lnTo>
                <a:lnTo>
                  <a:pt x="16107765" y="8925959"/>
                </a:lnTo>
                <a:lnTo>
                  <a:pt x="0" y="8925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9711" y="1028700"/>
            <a:ext cx="14889682" cy="8311522"/>
          </a:xfrm>
          <a:custGeom>
            <a:avLst/>
            <a:gdLst/>
            <a:ahLst/>
            <a:cxnLst/>
            <a:rect r="r" b="b" t="t" l="l"/>
            <a:pathLst>
              <a:path h="8311522" w="14889682">
                <a:moveTo>
                  <a:pt x="0" y="0"/>
                </a:moveTo>
                <a:lnTo>
                  <a:pt x="14889682" y="0"/>
                </a:lnTo>
                <a:lnTo>
                  <a:pt x="14889682" y="8311522"/>
                </a:lnTo>
                <a:lnTo>
                  <a:pt x="0" y="8311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85559"/>
            <a:ext cx="18288000" cy="10472559"/>
          </a:xfrm>
          <a:custGeom>
            <a:avLst/>
            <a:gdLst/>
            <a:ahLst/>
            <a:cxnLst/>
            <a:rect r="r" b="b" t="t" l="l"/>
            <a:pathLst>
              <a:path h="10472559" w="18288000">
                <a:moveTo>
                  <a:pt x="0" y="0"/>
                </a:moveTo>
                <a:lnTo>
                  <a:pt x="18288000" y="0"/>
                </a:lnTo>
                <a:lnTo>
                  <a:pt x="18288000" y="10472559"/>
                </a:lnTo>
                <a:lnTo>
                  <a:pt x="0" y="10472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478" t="-22721" r="0" b="-12071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4195"/>
            <a:ext cx="18331216" cy="10262805"/>
          </a:xfrm>
          <a:custGeom>
            <a:avLst/>
            <a:gdLst/>
            <a:ahLst/>
            <a:cxnLst/>
            <a:rect r="r" b="b" t="t" l="l"/>
            <a:pathLst>
              <a:path h="10262805" w="18331216">
                <a:moveTo>
                  <a:pt x="0" y="0"/>
                </a:moveTo>
                <a:lnTo>
                  <a:pt x="18331216" y="0"/>
                </a:lnTo>
                <a:lnTo>
                  <a:pt x="18331216" y="10262805"/>
                </a:lnTo>
                <a:lnTo>
                  <a:pt x="0" y="10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693" y="0"/>
            <a:ext cx="18299693" cy="10280431"/>
          </a:xfrm>
          <a:custGeom>
            <a:avLst/>
            <a:gdLst/>
            <a:ahLst/>
            <a:cxnLst/>
            <a:rect r="r" b="b" t="t" l="l"/>
            <a:pathLst>
              <a:path h="10280431" w="18299693">
                <a:moveTo>
                  <a:pt x="0" y="0"/>
                </a:moveTo>
                <a:lnTo>
                  <a:pt x="18299693" y="0"/>
                </a:lnTo>
                <a:lnTo>
                  <a:pt x="18299693" y="10280431"/>
                </a:lnTo>
                <a:lnTo>
                  <a:pt x="0" y="10280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5837" y="757775"/>
            <a:ext cx="16736327" cy="8771450"/>
            <a:chOff x="0" y="0"/>
            <a:chExt cx="4407921" cy="23101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7921" cy="2310176"/>
            </a:xfrm>
            <a:custGeom>
              <a:avLst/>
              <a:gdLst/>
              <a:ahLst/>
              <a:cxnLst/>
              <a:rect r="r" b="b" t="t" l="l"/>
              <a:pathLst>
                <a:path h="2310176" w="4407921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56244" y="2254490"/>
            <a:ext cx="8871123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01998" y="4257011"/>
            <a:ext cx="10801050" cy="41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Summary and Limitations</a:t>
            </a:r>
          </a:p>
          <a:p>
            <a:pPr algn="just">
              <a:lnSpc>
                <a:spcPts val="2380"/>
              </a:lnSpc>
            </a:pPr>
          </a:p>
          <a:p>
            <a:pPr algn="just">
              <a:lnSpc>
                <a:spcPts val="2380"/>
              </a:lnSpc>
            </a:pPr>
            <a:r>
              <a:rPr lang="en-US" sz="1700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We Achieved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End-to-end ML fraud-detection workflow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engineering captured key fraud patterns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 delivered strongest performance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Power BI translated results into an interactive dashboard</a:t>
            </a:r>
          </a:p>
          <a:p>
            <a:pPr algn="just">
              <a:lnSpc>
                <a:spcPts val="2380"/>
              </a:lnSpc>
            </a:pPr>
          </a:p>
          <a:p>
            <a:pPr algn="just">
              <a:lnSpc>
                <a:spcPts val="2380"/>
              </a:lnSpc>
            </a:pPr>
            <a:r>
              <a:rPr lang="en-US" sz="1700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Limitations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Only 150 fraud cases in the working subset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Working subset: 88,235 of 339,607 records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live bank integration or real-time deployment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Some metrics require reconciliation before production use</a:t>
            </a:r>
          </a:p>
          <a:p>
            <a:pPr algn="just" marL="0" indent="0" lvl="0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93386"/>
            <a:ext cx="10155052" cy="196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0"/>
              </a:lnSpc>
            </a:pPr>
            <a:r>
              <a:rPr lang="en-US" sz="14000" spc="-82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08035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001928"/>
            <a:ext cx="13616443" cy="225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79"/>
              </a:lnSpc>
              <a:spcBef>
                <a:spcPct val="0"/>
              </a:spcBef>
            </a:pPr>
            <a:r>
              <a:rPr lang="en-US" b="true" sz="15999" spc="-943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VERY MUCH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2738697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DAHWjJGtFoU</dc:identifier>
  <dcterms:modified xsi:type="dcterms:W3CDTF">2011-08-01T06:04:30Z</dcterms:modified>
  <cp:revision>1</cp:revision>
  <dc:title>Blue and White Modern Business Proposal Presentation</dc:title>
</cp:coreProperties>
</file>